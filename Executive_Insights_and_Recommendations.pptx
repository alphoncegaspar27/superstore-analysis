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161C4D"/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206240"/>
            <a:ext cx="4023360" cy="4023360"/>
          </a:xfrm>
          <a:prstGeom prst="ellipse">
            <a:avLst/>
          </a:prstGeom>
          <a:solidFill>
            <a:srgbClr val="161C4D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9659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INTELLIGENCE &amp; DATA ANALYTICS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2331720"/>
            <a:ext cx="98755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Insights &amp; Recommendations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3611880"/>
            <a:ext cx="8778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Power BI analysis of the Sample Superstore dataset — translating sales, profit, and customer data into decisions managers can act on.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4709160"/>
            <a:ext cx="457200" cy="36576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489204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</a:t>
            </a:r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Alphonce Gaspar Nangu
</a:t>
            </a:r>
            <a:pPr indent="0" marL="0">
              <a:lnSpc>
                <a:spcPts val="2200"/>
              </a:lnSpc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Tool: </a:t>
            </a:r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Power BI   |   </a:t>
            </a:r>
            <a:pPr indent="0" marL="0">
              <a:lnSpc>
                <a:spcPts val="2200"/>
              </a:lnSpc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Date: </a:t>
            </a:r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Summary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4" name="Image 0" descr="/home/claude/pptx_project/icon_pi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1121" y="1518361"/>
            <a:ext cx="575158" cy="57515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91640" y="1417320"/>
            <a:ext cx="63093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dashboard analysed the Superstore sales data to understand business performance. The analysis focused on sales, profit, customers, products, and regional performance.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691640" y="2514600"/>
            <a:ext cx="63093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results provide useful insights that help managers make informed business decisions and improve overall performance — from pricing to regional strategy.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8321040" y="1417320"/>
            <a:ext cx="3246120" cy="4206240"/>
          </a:xfrm>
          <a:prstGeom prst="roundRect">
            <a:avLst>
              <a:gd name="adj" fmla="val 3380"/>
            </a:avLst>
          </a:prstGeom>
          <a:solidFill>
            <a:srgbClr val="EEF3FD"/>
          </a:solidFill>
          <a:ln/>
          <a:effectLst>
            <a:outerShdw sx="100000" sy="100000" kx="0" ky="0" algn="bl" rotWithShape="0" blurRad="101600" dist="38100" dir="5400000">
              <a:srgbClr val="3A3F55">
                <a:alpha val="1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595360" y="16916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SCOPE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8595360" y="2203704"/>
            <a:ext cx="109728" cy="109728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0" name="Text 7"/>
          <p:cNvSpPr/>
          <p:nvPr/>
        </p:nvSpPr>
        <p:spPr>
          <a:xfrm>
            <a:off x="8823960" y="207568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823960" y="233172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trends across products &amp; time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8595360" y="3072384"/>
            <a:ext cx="109728" cy="109728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3" name="Text 10"/>
          <p:cNvSpPr/>
          <p:nvPr/>
        </p:nvSpPr>
        <p:spPr>
          <a:xfrm>
            <a:off x="8823960" y="294436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8823960" y="320040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performance &amp; discount impact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8595360" y="3941064"/>
            <a:ext cx="109728" cy="109728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6" name="Text 13"/>
          <p:cNvSpPr/>
          <p:nvPr/>
        </p:nvSpPr>
        <p:spPr>
          <a:xfrm>
            <a:off x="8823960" y="381304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8823960" y="406908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Segments and buying behaviour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8595360" y="4809744"/>
            <a:ext cx="109728" cy="109728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9" name="Text 16"/>
          <p:cNvSpPr/>
          <p:nvPr/>
        </p:nvSpPr>
        <p:spPr>
          <a:xfrm>
            <a:off x="8823960" y="468172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Regions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8823960" y="493776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performance comparison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Overview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6245352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Superstore BI Dashboard  |  Alphonce Gaspar Nangu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EF3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Findings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data shows across sales, customers, and regions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352044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3A3F55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78308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home/claude/pptx_project/icon_trend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2381" y="1856781"/>
            <a:ext cx="419527" cy="41952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246888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leads sales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68680" y="2834640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was the highest-selling product category overall.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416552" y="1554480"/>
            <a:ext cx="352044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3A3F55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45152" y="178308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/home/claude/pptx_project/icon_ma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8853" y="1856781"/>
            <a:ext cx="419527" cy="41952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45152" y="246888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 region on top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645152" y="2834640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West region generated the highest sales and profit company-wide.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193024" y="1554480"/>
            <a:ext cx="352044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3A3F55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21624" y="178308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2" descr="/home/claude/pptx_project/icon_user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5325" y="1856781"/>
            <a:ext cx="419527" cy="41952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21624" y="246888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Consumers dominate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421624" y="2834640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customers contributed the largest share of total sales.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40080" y="3977640"/>
            <a:ext cx="352044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3A3F55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68680" y="420624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1" name="Image 3" descr="/home/claude/pptx_project/icon_targe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2381" y="4279941"/>
            <a:ext cx="419527" cy="41952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68680" y="489204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concentration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868680" y="5257800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number of customers generated a large share of revenue.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4416552" y="3977640"/>
            <a:ext cx="352044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3A3F55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645152" y="420624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6" name="Image 4" descr="/home/claude/pptx_project/icon_percen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8853" y="4279941"/>
            <a:ext cx="419527" cy="419527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645152" y="489204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Discounts erode profit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4645152" y="5257800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discounts reduced profit margins on several products.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8193024" y="3977640"/>
            <a:ext cx="352044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3A3F55">
                <a:alpha val="1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421624" y="420624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1" name="Image 5" descr="/home/claude/pptx_project/icon_calenda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95325" y="4279941"/>
            <a:ext cx="419527" cy="419527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421624" y="489204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swings</a:t>
            </a:r>
            <a:endParaRPr lang="en-US" sz="1450" dirty="0"/>
          </a:p>
        </p:txBody>
      </p:sp>
      <p:sp>
        <p:nvSpPr>
          <p:cNvPr id="33" name="Text 25"/>
          <p:cNvSpPr/>
          <p:nvPr/>
        </p:nvSpPr>
        <p:spPr>
          <a:xfrm>
            <a:off x="8421624" y="5257800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showed clear seasonal patterns, with some months outperforming others.</a:t>
            </a:r>
            <a:endParaRPr lang="en-US" sz="1150" dirty="0"/>
          </a:p>
        </p:txBody>
      </p:sp>
      <p:sp>
        <p:nvSpPr>
          <p:cNvPr id="34" name="Text 26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Findings</a:t>
            </a:r>
            <a:endParaRPr lang="en-US" sz="1000" dirty="0"/>
          </a:p>
        </p:txBody>
      </p:sp>
      <p:sp>
        <p:nvSpPr>
          <p:cNvPr id="35" name="Text 27"/>
          <p:cNvSpPr/>
          <p:nvPr/>
        </p:nvSpPr>
        <p:spPr>
          <a:xfrm>
            <a:off x="6245352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Superstore BI Dashboard  |  Alphonce Gaspar Nangu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Opportunities &amp; Challenges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234440"/>
            <a:ext cx="5349240" cy="5029200"/>
          </a:xfrm>
          <a:prstGeom prst="roundRect">
            <a:avLst>
              <a:gd name="adj" fmla="val 1818"/>
            </a:avLst>
          </a:prstGeom>
          <a:solidFill>
            <a:srgbClr val="EEF3FD"/>
          </a:solidFill>
          <a:ln/>
        </p:spPr>
      </p:sp>
      <p:sp>
        <p:nvSpPr>
          <p:cNvPr id="4" name="Shape 2"/>
          <p:cNvSpPr/>
          <p:nvPr/>
        </p:nvSpPr>
        <p:spPr>
          <a:xfrm>
            <a:off x="960120" y="15087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/home/claude/pptx_project/icon_z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5500" y="1574140"/>
            <a:ext cx="372161" cy="37216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00200" y="15544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Opportunities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960120" y="2331720"/>
            <a:ext cx="128016" cy="128016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8" name="Text 5"/>
          <p:cNvSpPr/>
          <p:nvPr/>
        </p:nvSpPr>
        <p:spPr>
          <a:xfrm>
            <a:off x="1234440" y="2176272"/>
            <a:ext cx="452628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investment in high-performing products and categories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960120" y="3108960"/>
            <a:ext cx="128016" cy="128016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0" name="Text 7"/>
          <p:cNvSpPr/>
          <p:nvPr/>
        </p:nvSpPr>
        <p:spPr>
          <a:xfrm>
            <a:off x="1234440" y="2953512"/>
            <a:ext cx="452628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marketing efforts in profitable regions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960120" y="3886200"/>
            <a:ext cx="128016" cy="128016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2" name="Text 9"/>
          <p:cNvSpPr/>
          <p:nvPr/>
        </p:nvSpPr>
        <p:spPr>
          <a:xfrm>
            <a:off x="1234440" y="3730752"/>
            <a:ext cx="452628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customer loyalty programs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960120" y="4663440"/>
            <a:ext cx="128016" cy="128016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4" name="Text 11"/>
          <p:cNvSpPr/>
          <p:nvPr/>
        </p:nvSpPr>
        <p:spPr>
          <a:xfrm>
            <a:off x="1234440" y="4507992"/>
            <a:ext cx="452628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 products with high profit margins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960120" y="5440680"/>
            <a:ext cx="128016" cy="128016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6" name="Text 13"/>
          <p:cNvSpPr/>
          <p:nvPr/>
        </p:nvSpPr>
        <p:spPr>
          <a:xfrm>
            <a:off x="1234440" y="5285232"/>
            <a:ext cx="452628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inventory planning during peak sales periods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6199632" y="1234440"/>
            <a:ext cx="5349240" cy="5029200"/>
          </a:xfrm>
          <a:prstGeom prst="roundRect">
            <a:avLst>
              <a:gd name="adj" fmla="val 1818"/>
            </a:avLst>
          </a:prstGeom>
          <a:solidFill>
            <a:srgbClr val="1E2761"/>
          </a:solidFill>
          <a:ln/>
        </p:spPr>
      </p:sp>
      <p:sp>
        <p:nvSpPr>
          <p:cNvPr id="18" name="Shape 15"/>
          <p:cNvSpPr/>
          <p:nvPr/>
        </p:nvSpPr>
        <p:spPr>
          <a:xfrm>
            <a:off x="6519672" y="1508760"/>
            <a:ext cx="502920" cy="50292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19" name="Image 1" descr="/home/claude/pptx_project/icon_ale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5052" y="1574140"/>
            <a:ext cx="372161" cy="372161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7159752" y="15544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Challenges</a:t>
            </a:r>
            <a:endParaRPr lang="en-US" sz="1700" dirty="0"/>
          </a:p>
        </p:txBody>
      </p:sp>
      <p:sp>
        <p:nvSpPr>
          <p:cNvPr id="21" name="Shape 17"/>
          <p:cNvSpPr/>
          <p:nvPr/>
        </p:nvSpPr>
        <p:spPr>
          <a:xfrm>
            <a:off x="6519672" y="2331720"/>
            <a:ext cx="128016" cy="128016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2" name="Text 18"/>
          <p:cNvSpPr/>
          <p:nvPr/>
        </p:nvSpPr>
        <p:spPr>
          <a:xfrm>
            <a:off x="6793992" y="2176272"/>
            <a:ext cx="452628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discounts reduce overall profitability</a:t>
            </a:r>
            <a:endParaRPr lang="en-US" sz="1250" dirty="0"/>
          </a:p>
        </p:txBody>
      </p:sp>
      <p:sp>
        <p:nvSpPr>
          <p:cNvPr id="23" name="Shape 19"/>
          <p:cNvSpPr/>
          <p:nvPr/>
        </p:nvSpPr>
        <p:spPr>
          <a:xfrm>
            <a:off x="6519672" y="3108960"/>
            <a:ext cx="128016" cy="128016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4" name="Text 20"/>
          <p:cNvSpPr/>
          <p:nvPr/>
        </p:nvSpPr>
        <p:spPr>
          <a:xfrm>
            <a:off x="6793992" y="2953512"/>
            <a:ext cx="452628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products generate losses despite strong sales</a:t>
            </a:r>
            <a:endParaRPr lang="en-US" sz="1250" dirty="0"/>
          </a:p>
        </p:txBody>
      </p:sp>
      <p:sp>
        <p:nvSpPr>
          <p:cNvPr id="25" name="Shape 21"/>
          <p:cNvSpPr/>
          <p:nvPr/>
        </p:nvSpPr>
        <p:spPr>
          <a:xfrm>
            <a:off x="6519672" y="3886200"/>
            <a:ext cx="128016" cy="128016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6" name="Text 22"/>
          <p:cNvSpPr/>
          <p:nvPr/>
        </p:nvSpPr>
        <p:spPr>
          <a:xfrm>
            <a:off x="6793992" y="3730752"/>
            <a:ext cx="452628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regions and states have lower sales performance</a:t>
            </a:r>
            <a:endParaRPr lang="en-US" sz="1250" dirty="0"/>
          </a:p>
        </p:txBody>
      </p:sp>
      <p:sp>
        <p:nvSpPr>
          <p:cNvPr id="27" name="Shape 23"/>
          <p:cNvSpPr/>
          <p:nvPr/>
        </p:nvSpPr>
        <p:spPr>
          <a:xfrm>
            <a:off x="6519672" y="4663440"/>
            <a:ext cx="128016" cy="128016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8" name="Text 24"/>
          <p:cNvSpPr/>
          <p:nvPr/>
        </p:nvSpPr>
        <p:spPr>
          <a:xfrm>
            <a:off x="6793992" y="4507992"/>
            <a:ext cx="452628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depends heavily on a small number of customers</a:t>
            </a:r>
            <a:endParaRPr lang="en-US" sz="1250" dirty="0"/>
          </a:p>
        </p:txBody>
      </p:sp>
      <p:sp>
        <p:nvSpPr>
          <p:cNvPr id="29" name="Shape 25"/>
          <p:cNvSpPr/>
          <p:nvPr/>
        </p:nvSpPr>
        <p:spPr>
          <a:xfrm>
            <a:off x="6519672" y="5440680"/>
            <a:ext cx="128016" cy="128016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30" name="Text 26"/>
          <p:cNvSpPr/>
          <p:nvPr/>
        </p:nvSpPr>
        <p:spPr>
          <a:xfrm>
            <a:off x="6793992" y="5285232"/>
            <a:ext cx="452628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strategies need improvement for low-profit products</a:t>
            </a:r>
            <a:endParaRPr lang="en-US" sz="1250" dirty="0"/>
          </a:p>
        </p:txBody>
      </p:sp>
      <p:sp>
        <p:nvSpPr>
          <p:cNvPr id="31" name="Text 27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Opportunities &amp; Challenges</a:t>
            </a:r>
            <a:endParaRPr lang="en-US" sz="1000" dirty="0"/>
          </a:p>
        </p:txBody>
      </p:sp>
      <p:sp>
        <p:nvSpPr>
          <p:cNvPr id="32" name="Text 28"/>
          <p:cNvSpPr/>
          <p:nvPr/>
        </p:nvSpPr>
        <p:spPr>
          <a:xfrm>
            <a:off x="6245352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Superstore BI Dashboard  |  Alphonce Gaspar Nangu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EF3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actions to strengthen profitability and decision-making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352044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3A3F55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82880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828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68680" y="2514600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and reduce unnecessary discounts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416552" y="1600200"/>
            <a:ext cx="352044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3A3F55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45152" y="182880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4645152" y="1828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645152" y="2514600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marketing for profitable products and regions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193024" y="1600200"/>
            <a:ext cx="352044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3A3F55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421624" y="182880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8421624" y="1828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421624" y="2514600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pricing strategies for low-profit products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3977640"/>
            <a:ext cx="352044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3A3F55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68680" y="420624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4206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68680" y="4892040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Strengthen customer loyalty programs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416552" y="3977640"/>
            <a:ext cx="352044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3A3F55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45152" y="420624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4645152" y="4206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4645152" y="4892040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sales and profit regularly using Power BI dashboards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193024" y="3977640"/>
            <a:ext cx="352044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3A3F55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421624" y="420624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8421624" y="4206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8421624" y="4892040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data-driven decision-making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Recommendations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245352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Superstore BI Dashboard  |  Alphonce Gaspar Nangu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Improvements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dashboard can go next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2084832" cy="3291840"/>
          </a:xfrm>
          <a:prstGeom prst="roundRect">
            <a:avLst>
              <a:gd name="adj" fmla="val 4386"/>
            </a:avLst>
          </a:prstGeom>
          <a:solidFill>
            <a:srgbClr val="EEF3FD"/>
          </a:solidFill>
          <a:ln/>
        </p:spPr>
      </p:sp>
      <p:sp>
        <p:nvSpPr>
          <p:cNvPr id="5" name="Shape 3"/>
          <p:cNvSpPr/>
          <p:nvPr/>
        </p:nvSpPr>
        <p:spPr>
          <a:xfrm>
            <a:off x="1362456" y="187452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home/claude/pptx_project/icon_lay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45666" y="1957730"/>
            <a:ext cx="473659" cy="47365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697480"/>
            <a:ext cx="181051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data connection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77240" y="3383280"/>
            <a:ext cx="181051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the dashboard to live business data feeds.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944368" y="1600200"/>
            <a:ext cx="2084832" cy="3291840"/>
          </a:xfrm>
          <a:prstGeom prst="roundRect">
            <a:avLst>
              <a:gd name="adj" fmla="val 4386"/>
            </a:avLst>
          </a:prstGeom>
          <a:solidFill>
            <a:srgbClr val="EEF3FD"/>
          </a:solidFill>
          <a:ln/>
        </p:spPr>
      </p:sp>
      <p:sp>
        <p:nvSpPr>
          <p:cNvPr id="10" name="Shape 7"/>
          <p:cNvSpPr/>
          <p:nvPr/>
        </p:nvSpPr>
        <p:spPr>
          <a:xfrm>
            <a:off x="3666744" y="187452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/home/claude/pptx_project/icon_trendi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954" y="1957730"/>
            <a:ext cx="473659" cy="47365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081528" y="2697480"/>
            <a:ext cx="181051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forecasting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3081528" y="3383280"/>
            <a:ext cx="181051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forecasting models to anticipate demand.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248656" y="1600200"/>
            <a:ext cx="2084832" cy="3291840"/>
          </a:xfrm>
          <a:prstGeom prst="roundRect">
            <a:avLst>
              <a:gd name="adj" fmla="val 4386"/>
            </a:avLst>
          </a:prstGeom>
          <a:solidFill>
            <a:srgbClr val="EEF3FD"/>
          </a:solidFill>
          <a:ln/>
        </p:spPr>
      </p:sp>
      <p:sp>
        <p:nvSpPr>
          <p:cNvPr id="15" name="Shape 11"/>
          <p:cNvSpPr/>
          <p:nvPr/>
        </p:nvSpPr>
        <p:spPr>
          <a:xfrm>
            <a:off x="5971032" y="187452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2" descr="/home/claude/pptx_project/icon_targe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4242" y="1957730"/>
            <a:ext cx="473659" cy="47365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385816" y="2697480"/>
            <a:ext cx="181051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ML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5385816" y="3383280"/>
            <a:ext cx="181051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machine learning to predict customer behaviour.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7552944" y="1600200"/>
            <a:ext cx="2084832" cy="3291840"/>
          </a:xfrm>
          <a:prstGeom prst="roundRect">
            <a:avLst>
              <a:gd name="adj" fmla="val 4386"/>
            </a:avLst>
          </a:prstGeom>
          <a:solidFill>
            <a:srgbClr val="EEF3FD"/>
          </a:solidFill>
          <a:ln/>
        </p:spPr>
      </p:sp>
      <p:sp>
        <p:nvSpPr>
          <p:cNvPr id="20" name="Shape 15"/>
          <p:cNvSpPr/>
          <p:nvPr/>
        </p:nvSpPr>
        <p:spPr>
          <a:xfrm>
            <a:off x="8275320" y="187452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1" name="Image 3" descr="/home/claude/pptx_project/icon_zap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8530" y="1957730"/>
            <a:ext cx="473659" cy="473659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690104" y="2697480"/>
            <a:ext cx="181051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refreshes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7690104" y="3383280"/>
            <a:ext cx="181051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report refreshes to keep insights current.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9857232" y="1600200"/>
            <a:ext cx="2084832" cy="3291840"/>
          </a:xfrm>
          <a:prstGeom prst="roundRect">
            <a:avLst>
              <a:gd name="adj" fmla="val 4386"/>
            </a:avLst>
          </a:prstGeom>
          <a:solidFill>
            <a:srgbClr val="EEF3FD"/>
          </a:solidFill>
          <a:ln/>
        </p:spPr>
      </p:sp>
      <p:sp>
        <p:nvSpPr>
          <p:cNvPr id="25" name="Shape 19"/>
          <p:cNvSpPr/>
          <p:nvPr/>
        </p:nvSpPr>
        <p:spPr>
          <a:xfrm>
            <a:off x="10579608" y="187452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6" name="Image 4" descr="/home/claude/pptx_project/icon_bag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62818" y="1957730"/>
            <a:ext cx="473659" cy="473659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994392" y="2697480"/>
            <a:ext cx="181051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Mobile-friendly view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9994392" y="3383280"/>
            <a:ext cx="181051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 mobile-friendly version of the dashboard.</a:t>
            </a:r>
            <a:endParaRPr lang="en-US" sz="1100" dirty="0"/>
          </a:p>
        </p:txBody>
      </p:sp>
      <p:sp>
        <p:nvSpPr>
          <p:cNvPr id="29" name="Text 22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Future Improvements</a:t>
            </a:r>
            <a:endParaRPr lang="en-US" sz="1000" dirty="0"/>
          </a:p>
        </p:txBody>
      </p:sp>
      <p:sp>
        <p:nvSpPr>
          <p:cNvPr id="30" name="Text 23"/>
          <p:cNvSpPr/>
          <p:nvPr/>
        </p:nvSpPr>
        <p:spPr>
          <a:xfrm>
            <a:off x="6245352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Superstore BI Dashboard  |  Alphonce Gaspar Nangu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645920"/>
            <a:ext cx="4572000" cy="4572000"/>
          </a:xfrm>
          <a:prstGeom prst="ellipse">
            <a:avLst/>
          </a:prstGeom>
          <a:solidFill>
            <a:srgbClr val="161C4D"/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4754880"/>
            <a:ext cx="4114800" cy="4114800"/>
          </a:xfrm>
          <a:prstGeom prst="ellipse">
            <a:avLst/>
          </a:prstGeom>
          <a:solidFill>
            <a:srgbClr val="161C4D"/>
          </a:solidFill>
          <a:ln/>
        </p:spPr>
      </p:sp>
      <p:sp>
        <p:nvSpPr>
          <p:cNvPr id="4" name="Text 2"/>
          <p:cNvSpPr/>
          <p:nvPr/>
        </p:nvSpPr>
        <p:spPr>
          <a:xfrm>
            <a:off x="1280160" y="13716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280160" y="2331720"/>
            <a:ext cx="9509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dashboard demonstrates how Power BI transforms raw sales data into meaningful business insights.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80160" y="3200400"/>
            <a:ext cx="95097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analyzing sales, profit, customers, and geographic performance, managers can identify opportunities, solve business challenges, and make informed decisions that support business growth.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280160" y="4709160"/>
            <a:ext cx="457200" cy="36576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8" name="Text 6"/>
          <p:cNvSpPr/>
          <p:nvPr/>
        </p:nvSpPr>
        <p:spPr>
          <a:xfrm>
            <a:off x="1280160" y="48920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Data-informed decisions, powered by Power BI.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EF3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Information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35204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3A3F55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41248" y="175564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/home/claude/pptx_project/icon_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0684" y="1815084"/>
            <a:ext cx="338328" cy="3383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173736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1463040" y="2011680"/>
            <a:ext cx="25146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Intelligence and Data Analytics Dashboard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416552" y="1554480"/>
            <a:ext cx="35204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3A3F55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617720" y="175564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0" name="Image 1" descr="/home/claude/pptx_project/icon_us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7156" y="1815084"/>
            <a:ext cx="338328" cy="33832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239512" y="173736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5239512" y="2011680"/>
            <a:ext cx="25146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Alphonce Gaspar Nangu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8193024" y="1554480"/>
            <a:ext cx="35204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3A3F55">
                <a:alpha val="1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8394192" y="175564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5" name="Image 2" descr="/home/claude/pptx_project/icon_targe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3628" y="1815084"/>
            <a:ext cx="338328" cy="33832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015984" y="173736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</a:t>
            </a:r>
            <a:endParaRPr lang="en-US" sz="1050" dirty="0"/>
          </a:p>
        </p:txBody>
      </p:sp>
      <p:sp>
        <p:nvSpPr>
          <p:cNvPr id="17" name="Text 12"/>
          <p:cNvSpPr/>
          <p:nvPr/>
        </p:nvSpPr>
        <p:spPr>
          <a:xfrm>
            <a:off x="9015984" y="2011680"/>
            <a:ext cx="25146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Power BI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640080" y="3383280"/>
            <a:ext cx="35204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3A3F55">
                <a:alpha val="10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841248" y="358444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0" name="Image 3" descr="/home/claude/pptx_project/icon_layer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0684" y="3643884"/>
            <a:ext cx="338328" cy="33832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463040" y="356616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050" dirty="0"/>
          </a:p>
        </p:txBody>
      </p:sp>
      <p:sp>
        <p:nvSpPr>
          <p:cNvPr id="22" name="Text 16"/>
          <p:cNvSpPr/>
          <p:nvPr/>
        </p:nvSpPr>
        <p:spPr>
          <a:xfrm>
            <a:off x="1463040" y="3840480"/>
            <a:ext cx="25146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Superstore Dataset (Kaggle)</a:t>
            </a:r>
            <a:endParaRPr lang="en-US" sz="1250" dirty="0"/>
          </a:p>
        </p:txBody>
      </p:sp>
      <p:sp>
        <p:nvSpPr>
          <p:cNvPr id="23" name="Shape 17"/>
          <p:cNvSpPr/>
          <p:nvPr/>
        </p:nvSpPr>
        <p:spPr>
          <a:xfrm>
            <a:off x="4416552" y="3383280"/>
            <a:ext cx="35204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3A3F55">
                <a:alpha val="10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4617720" y="358444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5" name="Image 4" descr="/home/claude/pptx_project/icon_zap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7156" y="3643884"/>
            <a:ext cx="338328" cy="338328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5239512" y="356616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TOOL</a:t>
            </a:r>
            <a:endParaRPr lang="en-US" sz="1050" dirty="0"/>
          </a:p>
        </p:txBody>
      </p:sp>
      <p:sp>
        <p:nvSpPr>
          <p:cNvPr id="27" name="Text 20"/>
          <p:cNvSpPr/>
          <p:nvPr/>
        </p:nvSpPr>
        <p:spPr>
          <a:xfrm>
            <a:off x="5239512" y="3840480"/>
            <a:ext cx="25146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250" dirty="0"/>
          </a:p>
        </p:txBody>
      </p:sp>
      <p:sp>
        <p:nvSpPr>
          <p:cNvPr id="28" name="Shape 21"/>
          <p:cNvSpPr/>
          <p:nvPr/>
        </p:nvSpPr>
        <p:spPr>
          <a:xfrm>
            <a:off x="8193024" y="3383280"/>
            <a:ext cx="35204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3A3F55">
                <a:alpha val="10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8394192" y="358444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0" name="Image 5" descr="/home/claude/pptx_project/icon_calenda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53628" y="3643884"/>
            <a:ext cx="338328" cy="338328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9015984" y="356616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1050" dirty="0"/>
          </a:p>
        </p:txBody>
      </p:sp>
      <p:sp>
        <p:nvSpPr>
          <p:cNvPr id="32" name="Text 24"/>
          <p:cNvSpPr/>
          <p:nvPr/>
        </p:nvSpPr>
        <p:spPr>
          <a:xfrm>
            <a:off x="9015984" y="3840480"/>
            <a:ext cx="25146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2026</a:t>
            </a:r>
            <a:endParaRPr lang="en-US" sz="1250" dirty="0"/>
          </a:p>
        </p:txBody>
      </p:sp>
      <p:sp>
        <p:nvSpPr>
          <p:cNvPr id="33" name="Text 25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Project Information</a:t>
            </a:r>
            <a:endParaRPr lang="en-US" sz="1000" dirty="0"/>
          </a:p>
        </p:txBody>
      </p:sp>
      <p:sp>
        <p:nvSpPr>
          <p:cNvPr id="34" name="Text 26"/>
          <p:cNvSpPr/>
          <p:nvPr/>
        </p:nvSpPr>
        <p:spPr>
          <a:xfrm>
            <a:off x="6245352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Superstore BI Dashboard  |  Alphonce Gaspar Nangu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2026-07-17T18:09:42Z</dcterms:created>
  <dcterms:modified xsi:type="dcterms:W3CDTF">2026-07-17T18:09:43Z</dcterms:modified>
</cp:coreProperties>
</file>